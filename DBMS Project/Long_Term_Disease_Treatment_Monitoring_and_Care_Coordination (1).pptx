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5"/>
  </p:notesMasterIdLst>
  <p:handoutMasterIdLst>
    <p:handoutMasterId r:id="rId16"/>
  </p:handoutMasterIdLst>
  <p:sldIdLst>
    <p:sldId id="258" r:id="rId3"/>
    <p:sldId id="377" r:id="rId4"/>
    <p:sldId id="391" r:id="rId5"/>
    <p:sldId id="392" r:id="rId6"/>
    <p:sldId id="393" r:id="rId7"/>
    <p:sldId id="394" r:id="rId8"/>
    <p:sldId id="395" r:id="rId9"/>
    <p:sldId id="396" r:id="rId10"/>
    <p:sldId id="398" r:id="rId11"/>
    <p:sldId id="397" r:id="rId12"/>
    <p:sldId id="374" r:id="rId13"/>
    <p:sldId id="33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2708D8-4C91-4D31-913C-FF7BB55B5CB4}" v="18" dt="2026-08-29T08:40:44.1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370" autoAdjust="0"/>
    <p:restoredTop sz="95033" autoAdjust="0"/>
  </p:normalViewPr>
  <p:slideViewPr>
    <p:cSldViewPr snapToGrid="0" snapToObjects="1">
      <p:cViewPr varScale="1">
        <p:scale>
          <a:sx n="78" d="100"/>
          <a:sy n="78" d="100"/>
        </p:scale>
        <p:origin x="264" y="72"/>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23" Type="http://schemas.microsoft.com/office/2018/10/relationships/authors" Target="authors.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ri Chandana Kolipaka" userId="b74080c972cb6303" providerId="LiveId" clId="{278229BB-EF98-4352-B75E-FF7DEF533F79}"/>
    <pc:docChg chg="undo custSel modSld">
      <pc:chgData name="Siri Chandana Kolipaka" userId="b74080c972cb6303" providerId="LiveId" clId="{278229BB-EF98-4352-B75E-FF7DEF533F79}" dt="2026-08-29T08:40:44.148" v="55"/>
      <pc:docMkLst>
        <pc:docMk/>
      </pc:docMkLst>
      <pc:sldChg chg="modSp mod">
        <pc:chgData name="Siri Chandana Kolipaka" userId="b74080c972cb6303" providerId="LiveId" clId="{278229BB-EF98-4352-B75E-FF7DEF533F79}" dt="2026-08-29T08:40:44.148" v="55"/>
        <pc:sldMkLst>
          <pc:docMk/>
          <pc:sldMk cId="3362554174" sldId="258"/>
        </pc:sldMkLst>
        <pc:spChg chg="mod">
          <ac:chgData name="Siri Chandana Kolipaka" userId="b74080c972cb6303" providerId="LiveId" clId="{278229BB-EF98-4352-B75E-FF7DEF533F79}" dt="2026-08-29T08:40:44.148" v="55"/>
          <ac:spMkLst>
            <pc:docMk/>
            <pc:sldMk cId="3362554174" sldId="258"/>
            <ac:spMk id="2" creationId="{3C500A09-BF95-A121-71A4-33FFE91ACA86}"/>
          </ac:spMkLst>
        </pc:spChg>
      </pc:sldChg>
      <pc:sldChg chg="modSp mod">
        <pc:chgData name="Siri Chandana Kolipaka" userId="b74080c972cb6303" providerId="LiveId" clId="{278229BB-EF98-4352-B75E-FF7DEF533F79}" dt="2026-08-29T08:39:53.143" v="52"/>
        <pc:sldMkLst>
          <pc:docMk/>
          <pc:sldMk cId="1749009451" sldId="374"/>
        </pc:sldMkLst>
        <pc:spChg chg="mod">
          <ac:chgData name="Siri Chandana Kolipaka" userId="b74080c972cb6303" providerId="LiveId" clId="{278229BB-EF98-4352-B75E-FF7DEF533F79}" dt="2026-08-29T08:39:53.143" v="52"/>
          <ac:spMkLst>
            <pc:docMk/>
            <pc:sldMk cId="1749009451" sldId="374"/>
            <ac:spMk id="7" creationId="{C9949CC0-173F-204E-5E80-2122EDFAB661}"/>
          </ac:spMkLst>
        </pc:spChg>
      </pc:sldChg>
      <pc:sldChg chg="modSp mod">
        <pc:chgData name="Siri Chandana Kolipaka" userId="b74080c972cb6303" providerId="LiveId" clId="{278229BB-EF98-4352-B75E-FF7DEF533F79}" dt="2026-08-29T08:32:12.941" v="7" actId="20577"/>
        <pc:sldMkLst>
          <pc:docMk/>
          <pc:sldMk cId="4206421878" sldId="391"/>
        </pc:sldMkLst>
        <pc:spChg chg="mod">
          <ac:chgData name="Siri Chandana Kolipaka" userId="b74080c972cb6303" providerId="LiveId" clId="{278229BB-EF98-4352-B75E-FF7DEF533F79}" dt="2026-08-29T08:32:12.941" v="7" actId="20577"/>
          <ac:spMkLst>
            <pc:docMk/>
            <pc:sldMk cId="4206421878" sldId="391"/>
            <ac:spMk id="4" creationId="{A4A63587-658B-D9DC-0DC8-293DA4D38FF8}"/>
          </ac:spMkLst>
        </pc:spChg>
      </pc:sldChg>
      <pc:sldChg chg="modSp mod">
        <pc:chgData name="Siri Chandana Kolipaka" userId="b74080c972cb6303" providerId="LiveId" clId="{278229BB-EF98-4352-B75E-FF7DEF533F79}" dt="2026-08-29T08:32:38.023" v="11" actId="5793"/>
        <pc:sldMkLst>
          <pc:docMk/>
          <pc:sldMk cId="2105092368" sldId="392"/>
        </pc:sldMkLst>
        <pc:spChg chg="mod">
          <ac:chgData name="Siri Chandana Kolipaka" userId="b74080c972cb6303" providerId="LiveId" clId="{278229BB-EF98-4352-B75E-FF7DEF533F79}" dt="2026-08-29T08:32:38.023" v="11" actId="5793"/>
          <ac:spMkLst>
            <pc:docMk/>
            <pc:sldMk cId="2105092368" sldId="392"/>
            <ac:spMk id="4" creationId="{B50241EE-20FA-FE88-F0CE-F84CFE3ED762}"/>
          </ac:spMkLst>
        </pc:spChg>
      </pc:sldChg>
      <pc:sldChg chg="modSp mod">
        <pc:chgData name="Siri Chandana Kolipaka" userId="b74080c972cb6303" providerId="LiveId" clId="{278229BB-EF98-4352-B75E-FF7DEF533F79}" dt="2026-08-29T08:33:53.920" v="21" actId="27636"/>
        <pc:sldMkLst>
          <pc:docMk/>
          <pc:sldMk cId="3485086799" sldId="393"/>
        </pc:sldMkLst>
        <pc:spChg chg="mod">
          <ac:chgData name="Siri Chandana Kolipaka" userId="b74080c972cb6303" providerId="LiveId" clId="{278229BB-EF98-4352-B75E-FF7DEF533F79}" dt="2026-08-29T08:33:53.920" v="21" actId="27636"/>
          <ac:spMkLst>
            <pc:docMk/>
            <pc:sldMk cId="3485086799" sldId="393"/>
            <ac:spMk id="4" creationId="{056021FD-8573-454E-AAE6-0DB770428D43}"/>
          </ac:spMkLst>
        </pc:spChg>
      </pc:sldChg>
      <pc:sldChg chg="modSp mod">
        <pc:chgData name="Siri Chandana Kolipaka" userId="b74080c972cb6303" providerId="LiveId" clId="{278229BB-EF98-4352-B75E-FF7DEF533F79}" dt="2026-08-29T08:34:32.908" v="25" actId="5793"/>
        <pc:sldMkLst>
          <pc:docMk/>
          <pc:sldMk cId="2029224968" sldId="394"/>
        </pc:sldMkLst>
        <pc:spChg chg="mod">
          <ac:chgData name="Siri Chandana Kolipaka" userId="b74080c972cb6303" providerId="LiveId" clId="{278229BB-EF98-4352-B75E-FF7DEF533F79}" dt="2026-08-29T08:34:32.908" v="25" actId="5793"/>
          <ac:spMkLst>
            <pc:docMk/>
            <pc:sldMk cId="2029224968" sldId="394"/>
            <ac:spMk id="4" creationId="{1A1C0964-43C5-DE58-F74B-F0B3B1F5C984}"/>
          </ac:spMkLst>
        </pc:spChg>
      </pc:sldChg>
      <pc:sldChg chg="modSp mod">
        <pc:chgData name="Siri Chandana Kolipaka" userId="b74080c972cb6303" providerId="LiveId" clId="{278229BB-EF98-4352-B75E-FF7DEF533F79}" dt="2026-08-29T08:35:12.947" v="31" actId="27636"/>
        <pc:sldMkLst>
          <pc:docMk/>
          <pc:sldMk cId="3949831833" sldId="395"/>
        </pc:sldMkLst>
        <pc:spChg chg="mod">
          <ac:chgData name="Siri Chandana Kolipaka" userId="b74080c972cb6303" providerId="LiveId" clId="{278229BB-EF98-4352-B75E-FF7DEF533F79}" dt="2026-08-29T08:35:12.947" v="31" actId="27636"/>
          <ac:spMkLst>
            <pc:docMk/>
            <pc:sldMk cId="3949831833" sldId="395"/>
            <ac:spMk id="4" creationId="{A105A205-0B24-5585-AD3A-14F0657A956C}"/>
          </ac:spMkLst>
        </pc:spChg>
      </pc:sldChg>
      <pc:sldChg chg="modSp mod">
        <pc:chgData name="Siri Chandana Kolipaka" userId="b74080c972cb6303" providerId="LiveId" clId="{278229BB-EF98-4352-B75E-FF7DEF533F79}" dt="2026-08-29T08:35:38.467" v="33"/>
        <pc:sldMkLst>
          <pc:docMk/>
          <pc:sldMk cId="2402079705" sldId="396"/>
        </pc:sldMkLst>
        <pc:spChg chg="mod">
          <ac:chgData name="Siri Chandana Kolipaka" userId="b74080c972cb6303" providerId="LiveId" clId="{278229BB-EF98-4352-B75E-FF7DEF533F79}" dt="2026-08-29T08:35:38.467" v="33"/>
          <ac:spMkLst>
            <pc:docMk/>
            <pc:sldMk cId="2402079705" sldId="396"/>
            <ac:spMk id="4" creationId="{D440F2FD-B824-35C5-9EAA-5AF510938C36}"/>
          </ac:spMkLst>
        </pc:spChg>
      </pc:sldChg>
      <pc:sldChg chg="modSp mod">
        <pc:chgData name="Siri Chandana Kolipaka" userId="b74080c972cb6303" providerId="LiveId" clId="{278229BB-EF98-4352-B75E-FF7DEF533F79}" dt="2026-08-29T08:36:48.400" v="39"/>
        <pc:sldMkLst>
          <pc:docMk/>
          <pc:sldMk cId="1098968653" sldId="397"/>
        </pc:sldMkLst>
        <pc:spChg chg="mod">
          <ac:chgData name="Siri Chandana Kolipaka" userId="b74080c972cb6303" providerId="LiveId" clId="{278229BB-EF98-4352-B75E-FF7DEF533F79}" dt="2026-08-29T08:36:48.400" v="39"/>
          <ac:spMkLst>
            <pc:docMk/>
            <pc:sldMk cId="1098968653" sldId="397"/>
            <ac:spMk id="4" creationId="{68B3C331-E06F-D027-E4C0-6920D37072A9}"/>
          </ac:spMkLst>
        </pc:spChg>
      </pc:sldChg>
      <pc:sldChg chg="modSp mod">
        <pc:chgData name="Siri Chandana Kolipaka" userId="b74080c972cb6303" providerId="LiveId" clId="{278229BB-EF98-4352-B75E-FF7DEF533F79}" dt="2026-08-29T08:36:14.337" v="37" actId="27636"/>
        <pc:sldMkLst>
          <pc:docMk/>
          <pc:sldMk cId="1063077158" sldId="398"/>
        </pc:sldMkLst>
        <pc:spChg chg="mod">
          <ac:chgData name="Siri Chandana Kolipaka" userId="b74080c972cb6303" providerId="LiveId" clId="{278229BB-EF98-4352-B75E-FF7DEF533F79}" dt="2026-08-29T08:36:14.337" v="37" actId="27636"/>
          <ac:spMkLst>
            <pc:docMk/>
            <pc:sldMk cId="1063077158" sldId="398"/>
            <ac:spMk id="4" creationId="{D920CCCA-2419-39FC-4F64-F44FEFF2251C}"/>
          </ac:spMkLst>
        </pc:sp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8/29/2026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8/29/2026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29-08-2026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29-08-2026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29-08-2026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29-08-2026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29-08-2026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29-08-2026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29-08-2026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29-08-2026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29-08-2026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29-08-2026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29-08-2026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29-08-2026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29-08-2026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29-08-2026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29-08-2026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29-08-2026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29-08-2026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29-08-2026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961417" y="300399"/>
            <a:ext cx="10392383" cy="918801"/>
          </a:xfrm>
        </p:spPr>
        <p:txBody>
          <a:bodyPr>
            <a:noAutofit/>
          </a:bodyPr>
          <a:lstStyle/>
          <a:p>
            <a:pPr algn="ctr">
              <a:lnSpc>
                <a:spcPct val="90000"/>
              </a:lnSpc>
            </a:pPr>
            <a:r>
              <a:rPr lang="en-US" sz="2400" b="1" dirty="0">
                <a:solidFill>
                  <a:srgbClr val="011893"/>
                </a:solidFill>
                <a:latin typeface="+mn-lt"/>
                <a:cs typeface="Arial" panose="020B0604020202020204" pitchFamily="34" charset="0"/>
              </a:rPr>
              <a:t>Long Term Disease Treatment Monitoring and Care Coordination</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endParaRPr lang="en-US" dirty="0"/>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Font typeface="Arial" panose="020B0604020202020204" pitchFamily="34" charset="0"/>
              <a:buNone/>
            </a:pPr>
            <a:r>
              <a:rPr lang="en-US" sz="2400" dirty="0" err="1">
                <a:solidFill>
                  <a:srgbClr val="00B050"/>
                </a:solidFill>
              </a:rPr>
              <a:t>Dr.Y</a:t>
            </a:r>
            <a:r>
              <a:rPr lang="en-US" sz="2400" dirty="0">
                <a:solidFill>
                  <a:srgbClr val="00B050"/>
                </a:solidFill>
              </a:rPr>
              <a:t> </a:t>
            </a:r>
            <a:r>
              <a:rPr lang="en-US" sz="2400" dirty="0" err="1">
                <a:solidFill>
                  <a:srgbClr val="00B050"/>
                </a:solidFill>
              </a:rPr>
              <a:t>Subbarayudu</a:t>
            </a:r>
            <a:endParaRPr lang="en-US" sz="2400" dirty="0">
              <a:solidFill>
                <a:srgbClr val="00B050"/>
              </a:solidFill>
            </a:endParaRPr>
          </a:p>
          <a:p>
            <a:pPr marL="0" indent="0" algn="ctr">
              <a:buFont typeface="Arial" panose="020B0604020202020204" pitchFamily="34" charset="0"/>
              <a:buNone/>
            </a:pPr>
            <a:r>
              <a:rPr lang="en-US" sz="2400" dirty="0">
                <a:solidFill>
                  <a:srgbClr val="00B050"/>
                </a:solidFill>
              </a:rPr>
              <a:t>Assistant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2937776917"/>
              </p:ext>
            </p:extLst>
          </p:nvPr>
        </p:nvGraphicFramePr>
        <p:xfrm>
          <a:off x="2032000" y="1680962"/>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70840">
                <a:tc>
                  <a:txBody>
                    <a:bodyPr/>
                    <a:lstStyle/>
                    <a:p>
                      <a:r>
                        <a:rPr lang="en-US" dirty="0"/>
                        <a:t>NISHANT MEDHALAVALASA</a:t>
                      </a:r>
                    </a:p>
                  </a:txBody>
                  <a:tcPr/>
                </a:tc>
                <a:tc>
                  <a:txBody>
                    <a:bodyPr/>
                    <a:lstStyle/>
                    <a:p>
                      <a:r>
                        <a:rPr lang="en-US" dirty="0"/>
                        <a:t>2520030323</a:t>
                      </a:r>
                    </a:p>
                  </a:txBody>
                  <a:tcPr/>
                </a:tc>
                <a:extLst>
                  <a:ext uri="{0D108BD9-81ED-4DB2-BD59-A6C34878D82A}">
                    <a16:rowId xmlns:a16="http://schemas.microsoft.com/office/drawing/2014/main" val="253518174"/>
                  </a:ext>
                </a:extLst>
              </a:tr>
              <a:tr h="370840">
                <a:tc>
                  <a:txBody>
                    <a:bodyPr/>
                    <a:lstStyle/>
                    <a:p>
                      <a:r>
                        <a:rPr lang="en-US" dirty="0"/>
                        <a:t>KOLIPAKA SIRI CHANDANA</a:t>
                      </a:r>
                    </a:p>
                  </a:txBody>
                  <a:tcPr/>
                </a:tc>
                <a:tc>
                  <a:txBody>
                    <a:bodyPr/>
                    <a:lstStyle/>
                    <a:p>
                      <a:r>
                        <a:rPr lang="en-US" dirty="0"/>
                        <a:t>2520030453</a:t>
                      </a:r>
                    </a:p>
                  </a:txBody>
                  <a:tcPr/>
                </a:tc>
                <a:extLst>
                  <a:ext uri="{0D108BD9-81ED-4DB2-BD59-A6C34878D82A}">
                    <a16:rowId xmlns:a16="http://schemas.microsoft.com/office/drawing/2014/main" val="2413438055"/>
                  </a:ext>
                </a:extLst>
              </a:tr>
              <a:tr h="370840">
                <a:tc>
                  <a:txBody>
                    <a:bodyPr/>
                    <a:lstStyle/>
                    <a:p>
                      <a:r>
                        <a:rPr lang="en-US" dirty="0"/>
                        <a:t>LAKSHMI ASWIKA INTURI</a:t>
                      </a:r>
                    </a:p>
                  </a:txBody>
                  <a:tcPr/>
                </a:tc>
                <a:tc>
                  <a:txBody>
                    <a:bodyPr/>
                    <a:lstStyle/>
                    <a:p>
                      <a:r>
                        <a:rPr lang="en-US" dirty="0"/>
                        <a:t>2520030221</a:t>
                      </a:r>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GROUP NUMBER</a:t>
            </a:r>
            <a:r>
              <a:rPr lang="en-US" sz="3200" b="1">
                <a:solidFill>
                  <a:srgbClr val="0070C0"/>
                </a:solidFill>
              </a:rPr>
              <a:t>:19</a:t>
            </a:r>
            <a:endParaRPr lang="en-IN" sz="3200" b="1" dirty="0">
              <a:solidFill>
                <a:srgbClr val="0070C0"/>
              </a:solidFill>
            </a:endParaRPr>
          </a:p>
        </p:txBody>
      </p:sp>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1721137835"/>
              </p:ext>
            </p:extLst>
          </p:nvPr>
        </p:nvGraphicFramePr>
        <p:xfrm>
          <a:off x="820882" y="1416193"/>
          <a:ext cx="10532917" cy="2338684"/>
        </p:xfrm>
        <a:graphic>
          <a:graphicData uri="http://schemas.openxmlformats.org/drawingml/2006/table">
            <a:tbl>
              <a:tblPr firstRow="1" bandRow="1">
                <a:tableStyleId>{5A111915-BE36-4E01-A7E5-04B1672EAD32}</a:tableStyleId>
              </a:tblPr>
              <a:tblGrid>
                <a:gridCol w="5275117">
                  <a:extLst>
                    <a:ext uri="{9D8B030D-6E8A-4147-A177-3AD203B41FA5}">
                      <a16:colId xmlns:a16="http://schemas.microsoft.com/office/drawing/2014/main" val="446563831"/>
                    </a:ext>
                  </a:extLst>
                </a:gridCol>
                <a:gridCol w="5257800">
                  <a:extLst>
                    <a:ext uri="{9D8B030D-6E8A-4147-A177-3AD203B41FA5}">
                      <a16:colId xmlns:a16="http://schemas.microsoft.com/office/drawing/2014/main" val="4175382372"/>
                    </a:ext>
                  </a:extLst>
                </a:gridCol>
              </a:tblGrid>
              <a:tr h="418444">
                <a:tc>
                  <a:txBody>
                    <a:bodyPr/>
                    <a:lstStyle/>
                    <a:p>
                      <a:pPr algn="ctr"/>
                      <a:r>
                        <a:rPr lang="en-US" dirty="0"/>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NISHANT MEDHALAVALASA</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API &amp; SQL Development</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KOLIPAKA SIRI CHANDANA</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Backend &amp; Database Development</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LAKSHMI ASWIKA INTURI</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Database Design &amp; Testing</a:t>
                      </a:r>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a:normAutofit/>
          </a:bodyPr>
          <a:lstStyle/>
          <a:p>
            <a:pPr algn="ctr"/>
            <a:r>
              <a:rPr lang="en-IN" sz="3200" b="1" dirty="0">
                <a:solidFill>
                  <a:srgbClr val="0070C0"/>
                </a:solidFill>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p:txBody>
          <a:bodyPr>
            <a:normAutofit fontScale="92500" lnSpcReduction="10000"/>
          </a:bodyPr>
          <a:lstStyle/>
          <a:p>
            <a:pPr marL="0" indent="0">
              <a:buNone/>
            </a:pPr>
            <a:r>
              <a:rPr lang="en-IN" dirty="0"/>
              <a:t>The Long Term Disease Treatment Monitoring and Care Coordination system is a healthcare platform designed to manage and monitor the treatment journey of patients suffering from long-term and serious diseases. The project helps organize information related to patients, diseases, treatment plans, medications, medical tests, appointments, symptoms, and follow-ups. The system provides a structured way to track treatment progress and coordinate healthcare activities over an extended period. It allows healthcare providers to monitor patient treatment status while enabling patients to access treatment schedules and report symptoms or side effects. The system aims to provide a reliable and organized platform that improves continuity of care and coordination between patients and healthcare providers.</a:t>
            </a:r>
            <a:endParaRPr lang="en-US" dirty="0"/>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lang="en-IN" sz="3200" b="1" dirty="0">
                <a:solidFill>
                  <a:srgbClr val="0070C0"/>
                </a:solidFill>
              </a:rPr>
              <a:t>INTRDOUCTION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a:extLst>
              <a:ext uri="{FF2B5EF4-FFF2-40B4-BE49-F238E27FC236}">
                <a16:creationId xmlns:a16="http://schemas.microsoft.com/office/drawing/2014/main" id="{B50241EE-20FA-FE88-F0CE-F84CFE3ED762}"/>
              </a:ext>
            </a:extLst>
          </p:cNvPr>
          <p:cNvSpPr>
            <a:spLocks noGrp="1"/>
          </p:cNvSpPr>
          <p:nvPr>
            <p:ph idx="1"/>
          </p:nvPr>
        </p:nvSpPr>
        <p:spPr/>
        <p:txBody>
          <a:bodyPr>
            <a:normAutofit lnSpcReduction="10000"/>
          </a:bodyPr>
          <a:lstStyle/>
          <a:p>
            <a:pPr marL="0" indent="0">
              <a:buNone/>
            </a:pPr>
            <a:r>
              <a:rPr lang="en-IN" dirty="0"/>
              <a:t>Patients suffering from long-term diseases often require continuous treatment, regular medical tests, medications, specialist consultations, and follow-up appointments. Managing these activities over a long period can be difficult when patient information is distributed across different records and systems. This project develops a Long Term Disease Treatment Monitoring and Care Coordination system to organize and track the complete treatment journey of patients. The system connects different healthcare activities and provides a centralized platform for managing treatment plans, appointments, symptoms, and follow-ups. It helps maintain a structured treatment history and improves coordination between patients and healthcare providers.</a:t>
            </a:r>
            <a:endParaRPr lang="en-US" dirty="0"/>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a:extLst>
              <a:ext uri="{FF2B5EF4-FFF2-40B4-BE49-F238E27FC236}">
                <a16:creationId xmlns:a16="http://schemas.microsoft.com/office/drawing/2014/main" id="{056021FD-8573-454E-AAE6-0DB770428D43}"/>
              </a:ext>
            </a:extLst>
          </p:cNvPr>
          <p:cNvSpPr>
            <a:spLocks noGrp="1"/>
          </p:cNvSpPr>
          <p:nvPr>
            <p:ph idx="1"/>
          </p:nvPr>
        </p:nvSpPr>
        <p:spPr/>
        <p:txBody>
          <a:bodyPr>
            <a:normAutofit fontScale="92500"/>
          </a:bodyPr>
          <a:lstStyle/>
          <a:p>
            <a:r>
              <a:rPr lang="en-US" dirty="0"/>
              <a:t>Long-term disease treatment often involves multiple appointments, treatments, tests, and medical records.</a:t>
            </a:r>
          </a:p>
          <a:p>
            <a:r>
              <a:rPr lang="en-US" dirty="0"/>
              <a:t>Patient information may be distributed across different departments or systems.</a:t>
            </a:r>
          </a:p>
          <a:p>
            <a:r>
              <a:rPr lang="en-US" dirty="0"/>
              <a:t>Tracking treatment progress over an extended period can be </a:t>
            </a:r>
            <a:r>
              <a:rPr lang="en-US" dirty="0" err="1"/>
              <a:t>difficult.Missed</a:t>
            </a:r>
            <a:r>
              <a:rPr lang="en-US" dirty="0"/>
              <a:t> appointments and follow-ups may affect continuity of care.</a:t>
            </a:r>
          </a:p>
          <a:p>
            <a:r>
              <a:rPr lang="en-US" dirty="0"/>
              <a:t>Symptoms and side effects may not be systematically </a:t>
            </a:r>
            <a:r>
              <a:rPr lang="en-US" dirty="0" err="1"/>
              <a:t>recorded.Manual</a:t>
            </a:r>
            <a:r>
              <a:rPr lang="en-US" dirty="0"/>
              <a:t> monitoring can increase the possibility of delays and incomplete activities.</a:t>
            </a:r>
          </a:p>
          <a:p>
            <a:r>
              <a:rPr lang="en-US" dirty="0"/>
              <a:t>A centralized system can improve treatment monitoring and care coordination.</a:t>
            </a:r>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a:normAutofit/>
          </a:bodyPr>
          <a:lstStyle/>
          <a:p>
            <a:pPr algn="ctr"/>
            <a:r>
              <a:rPr lang="en-IN" sz="3200" b="1" dirty="0">
                <a:solidFill>
                  <a:srgbClr val="0070C0"/>
                </a:solidFill>
              </a:rPr>
              <a:t>PROBLEM</a:t>
            </a:r>
            <a:endParaRPr lang="en-IN" sz="3200" dirty="0">
              <a:solidFill>
                <a:srgbClr val="0070C0"/>
              </a:solidFill>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a:extLst>
              <a:ext uri="{FF2B5EF4-FFF2-40B4-BE49-F238E27FC236}">
                <a16:creationId xmlns:a16="http://schemas.microsoft.com/office/drawing/2014/main" id="{1A1C0964-43C5-DE58-F74B-F0B3B1F5C984}"/>
              </a:ext>
            </a:extLst>
          </p:cNvPr>
          <p:cNvSpPr>
            <a:spLocks noGrp="1"/>
          </p:cNvSpPr>
          <p:nvPr>
            <p:ph idx="1"/>
          </p:nvPr>
        </p:nvSpPr>
        <p:spPr/>
        <p:txBody>
          <a:bodyPr/>
          <a:lstStyle/>
          <a:p>
            <a:pPr marL="0" indent="0">
              <a:buNone/>
            </a:pPr>
            <a:r>
              <a:rPr lang="en-US" dirty="0"/>
              <a:t>The main problem is to effectively manage and monitor the long-term treatment journey of patients suffering from serious or chronic diseases. The system needs to handle multiple healthcare activities such as treatment plans, medications, medical tests, appointments, symptoms, and follow-ups while maintaining a complete treatment history. Without proper coordination, missed appointments, delayed treatments, incomplete follow-ups, and fragmented patient information can occur. Therefore, a centralized treatment monitoring and care coordination system is required to organize healthcare activities and continuously track patient progress.</a:t>
            </a:r>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a:normAutofit/>
          </a:bodyPr>
          <a:lstStyle/>
          <a:p>
            <a:pPr algn="ctr"/>
            <a:r>
              <a:rPr lang="en-IN" sz="3200" b="1" dirty="0">
                <a:solidFill>
                  <a:srgbClr val="0070C0"/>
                </a:solidFill>
              </a:rPr>
              <a:t>SOLUTION(Contribution)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p:txBody>
          <a:bodyPr>
            <a:normAutofit fontScale="92500" lnSpcReduction="10000"/>
          </a:bodyPr>
          <a:lstStyle/>
          <a:p>
            <a:r>
              <a:rPr lang="en-IN" dirty="0"/>
              <a:t>The proposed system develops a centralized platform for monitoring and coordinating long-term disease treatments.</a:t>
            </a:r>
          </a:p>
          <a:p>
            <a:r>
              <a:rPr lang="en-IN" b="1" dirty="0"/>
              <a:t>Key Contributions:</a:t>
            </a:r>
          </a:p>
          <a:p>
            <a:pPr lvl="0"/>
            <a:r>
              <a:rPr lang="en-IN" dirty="0"/>
              <a:t>Maintain structured patient and treatment information. </a:t>
            </a:r>
          </a:p>
          <a:p>
            <a:pPr lvl="0"/>
            <a:r>
              <a:rPr lang="en-IN" dirty="0"/>
              <a:t>Create and manage personalized treatment plans. </a:t>
            </a:r>
          </a:p>
          <a:p>
            <a:pPr lvl="0"/>
            <a:r>
              <a:rPr lang="en-IN" dirty="0"/>
              <a:t>Track medical tests, treatment sessions, and appointments. </a:t>
            </a:r>
          </a:p>
          <a:p>
            <a:pPr lvl="0"/>
            <a:r>
              <a:rPr lang="en-IN" dirty="0"/>
              <a:t>Monitor symptoms and treatment-related side effects. </a:t>
            </a:r>
          </a:p>
          <a:p>
            <a:pPr lvl="0"/>
            <a:r>
              <a:rPr lang="en-IN" dirty="0"/>
              <a:t>Manage follow-up schedules and reminders. </a:t>
            </a:r>
          </a:p>
          <a:p>
            <a:pPr lvl="0"/>
            <a:r>
              <a:rPr lang="en-IN" dirty="0"/>
              <a:t>Identify missed or delayed healthcare activities. </a:t>
            </a:r>
          </a:p>
          <a:p>
            <a:pPr lvl="0"/>
            <a:r>
              <a:rPr lang="en-IN" dirty="0"/>
              <a:t>Improve coordination between patients and healthcare providers.</a:t>
            </a:r>
          </a:p>
          <a:p>
            <a:endParaRPr lang="en-US" dirty="0"/>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3600" b="1" dirty="0">
                <a:solidFill>
                  <a:srgbClr val="0070C0"/>
                </a:solidFill>
              </a:rPr>
              <a:t>Objectives </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4" name="Content Placeholder 3">
            <a:extLst>
              <a:ext uri="{FF2B5EF4-FFF2-40B4-BE49-F238E27FC236}">
                <a16:creationId xmlns:a16="http://schemas.microsoft.com/office/drawing/2014/main" id="{D440F2FD-B824-35C5-9EAA-5AF510938C36}"/>
              </a:ext>
            </a:extLst>
          </p:cNvPr>
          <p:cNvSpPr>
            <a:spLocks noGrp="1"/>
          </p:cNvSpPr>
          <p:nvPr>
            <p:ph idx="1"/>
          </p:nvPr>
        </p:nvSpPr>
        <p:spPr/>
        <p:txBody>
          <a:bodyPr/>
          <a:lstStyle/>
          <a:p>
            <a:pPr lvl="0"/>
            <a:r>
              <a:rPr lang="en-IN" dirty="0"/>
              <a:t>To develop a centralized platform for long-term disease treatment monitoring. </a:t>
            </a:r>
          </a:p>
          <a:p>
            <a:pPr lvl="0"/>
            <a:r>
              <a:rPr lang="en-IN" dirty="0"/>
              <a:t>To maintain patient treatment information systematically. </a:t>
            </a:r>
          </a:p>
          <a:p>
            <a:pPr lvl="0"/>
            <a:r>
              <a:rPr lang="en-IN" dirty="0"/>
              <a:t>To track treatment plans, tests, medications, and appointments. </a:t>
            </a:r>
          </a:p>
          <a:p>
            <a:pPr lvl="0"/>
            <a:r>
              <a:rPr lang="en-IN" dirty="0"/>
              <a:t>To monitor patient symptoms and side effects. </a:t>
            </a:r>
          </a:p>
          <a:p>
            <a:pPr lvl="0"/>
            <a:r>
              <a:rPr lang="en-IN" dirty="0"/>
              <a:t>To manage follow-up schedules and healthcare activities. </a:t>
            </a:r>
          </a:p>
          <a:p>
            <a:pPr lvl="0"/>
            <a:r>
              <a:rPr lang="en-IN" dirty="0"/>
              <a:t>To identify missed or delayed treatment activities. </a:t>
            </a:r>
          </a:p>
          <a:p>
            <a:pPr lvl="0"/>
            <a:r>
              <a:rPr lang="en-IN" dirty="0"/>
              <a:t>To improve coordination between patients and healthcare providers.</a:t>
            </a:r>
          </a:p>
          <a:p>
            <a:endParaRPr lang="en-US" dirty="0"/>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4" name="Content Placeholder 3">
            <a:extLst>
              <a:ext uri="{FF2B5EF4-FFF2-40B4-BE49-F238E27FC236}">
                <a16:creationId xmlns:a16="http://schemas.microsoft.com/office/drawing/2014/main" id="{D920CCCA-2419-39FC-4F64-F44FEFF2251C}"/>
              </a:ext>
            </a:extLst>
          </p:cNvPr>
          <p:cNvSpPr>
            <a:spLocks noGrp="1"/>
          </p:cNvSpPr>
          <p:nvPr>
            <p:ph idx="1"/>
          </p:nvPr>
        </p:nvSpPr>
        <p:spPr/>
        <p:txBody>
          <a:bodyPr>
            <a:normAutofit fontScale="92500" lnSpcReduction="20000"/>
          </a:bodyPr>
          <a:lstStyle/>
          <a:p>
            <a:r>
              <a:rPr lang="en-IN" b="1" dirty="0"/>
              <a:t>Patient Management</a:t>
            </a:r>
          </a:p>
          <a:p>
            <a:r>
              <a:rPr lang="en-IN" dirty="0"/>
              <a:t>Manages patient registration, personal details, disease information, and treatment history.</a:t>
            </a:r>
          </a:p>
          <a:p>
            <a:r>
              <a:rPr lang="en-IN" b="1" dirty="0"/>
              <a:t>Treatment Plan Management</a:t>
            </a:r>
          </a:p>
          <a:p>
            <a:r>
              <a:rPr lang="en-IN" dirty="0"/>
              <a:t>Creates and manages personalized treatment plans, treatment phases, and treatment progress.</a:t>
            </a:r>
          </a:p>
          <a:p>
            <a:r>
              <a:rPr lang="en-IN" b="1" dirty="0"/>
              <a:t>Appointment Management</a:t>
            </a:r>
          </a:p>
          <a:p>
            <a:r>
              <a:rPr lang="en-IN" dirty="0"/>
              <a:t>Schedules consultations, treatment sessions, medical tests, and follow-up appointments.</a:t>
            </a:r>
          </a:p>
          <a:p>
            <a:r>
              <a:rPr lang="en-IN" b="1" dirty="0"/>
              <a:t>Symptom Monitoring</a:t>
            </a:r>
          </a:p>
          <a:p>
            <a:r>
              <a:rPr lang="en-IN" dirty="0"/>
              <a:t>Allows patients to record symptoms and treatment-related side effects for healthcare provider review.</a:t>
            </a:r>
          </a:p>
          <a:p>
            <a:endParaRPr lang="en-IN" dirty="0"/>
          </a:p>
        </p:txBody>
      </p:sp>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a:normAutofit/>
          </a:bodyPr>
          <a:lstStyle/>
          <a:p>
            <a:pPr algn="ctr"/>
            <a:r>
              <a:rPr lang="en-IN" sz="3200" b="1" dirty="0">
                <a:solidFill>
                  <a:srgbClr val="0070C0"/>
                </a:solidFill>
              </a:rPr>
              <a:t>SOFTWARE REQUIREMENTS </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10</a:t>
            </a:fld>
            <a:endParaRPr lang="en-US"/>
          </a:p>
        </p:txBody>
      </p:sp>
      <p:sp>
        <p:nvSpPr>
          <p:cNvPr id="4" name="Content Placeholder 3">
            <a:extLst>
              <a:ext uri="{FF2B5EF4-FFF2-40B4-BE49-F238E27FC236}">
                <a16:creationId xmlns:a16="http://schemas.microsoft.com/office/drawing/2014/main" id="{68B3C331-E06F-D027-E4C0-6920D37072A9}"/>
              </a:ext>
            </a:extLst>
          </p:cNvPr>
          <p:cNvSpPr>
            <a:spLocks noGrp="1"/>
          </p:cNvSpPr>
          <p:nvPr>
            <p:ph idx="1"/>
          </p:nvPr>
        </p:nvSpPr>
        <p:spPr/>
        <p:txBody>
          <a:bodyPr/>
          <a:lstStyle/>
          <a:p>
            <a:r>
              <a:rPr lang="en-IN" b="1" dirty="0"/>
              <a:t>Frontend:</a:t>
            </a:r>
            <a:r>
              <a:rPr lang="en-IN" dirty="0"/>
              <a:t> React.js, HTML, CSS</a:t>
            </a:r>
            <a:br>
              <a:rPr lang="en-IN" dirty="0"/>
            </a:br>
            <a:r>
              <a:rPr lang="en-IN" b="1" dirty="0"/>
              <a:t>Backend:</a:t>
            </a:r>
            <a:r>
              <a:rPr lang="en-IN" dirty="0"/>
              <a:t> Node.js, Express.js</a:t>
            </a:r>
            <a:br>
              <a:rPr lang="en-IN" dirty="0"/>
            </a:br>
            <a:r>
              <a:rPr lang="en-IN" b="1" dirty="0"/>
              <a:t>Database:</a:t>
            </a:r>
            <a:r>
              <a:rPr lang="en-IN" dirty="0"/>
              <a:t> MySQL</a:t>
            </a:r>
            <a:br>
              <a:rPr lang="en-IN" dirty="0"/>
            </a:br>
            <a:r>
              <a:rPr lang="en-IN" b="1" dirty="0"/>
              <a:t>Authentication:</a:t>
            </a:r>
            <a:r>
              <a:rPr lang="en-IN" dirty="0"/>
              <a:t> JWT</a:t>
            </a:r>
            <a:br>
              <a:rPr lang="en-IN" dirty="0"/>
            </a:br>
            <a:r>
              <a:rPr lang="en-IN" b="1" dirty="0"/>
              <a:t>API:</a:t>
            </a:r>
            <a:r>
              <a:rPr lang="en-IN" dirty="0"/>
              <a:t> REST API</a:t>
            </a:r>
            <a:br>
              <a:rPr lang="en-IN" dirty="0"/>
            </a:br>
            <a:r>
              <a:rPr lang="en-IN" b="1" dirty="0"/>
              <a:t>Development Environment:</a:t>
            </a:r>
            <a:r>
              <a:rPr lang="en-IN" dirty="0"/>
              <a:t> VS Code</a:t>
            </a:r>
            <a:br>
              <a:rPr lang="en-IN" dirty="0"/>
            </a:br>
            <a:r>
              <a:rPr lang="en-IN" b="1" dirty="0"/>
              <a:t>API Testing:</a:t>
            </a:r>
            <a:r>
              <a:rPr lang="en-IN" dirty="0"/>
              <a:t> Postman</a:t>
            </a:r>
            <a:br>
              <a:rPr lang="en-IN" dirty="0"/>
            </a:br>
            <a:r>
              <a:rPr lang="en-IN" b="1" dirty="0"/>
              <a:t>Version Control:</a:t>
            </a:r>
            <a:r>
              <a:rPr lang="en-IN" dirty="0"/>
              <a:t> GitHub</a:t>
            </a:r>
            <a:br>
              <a:rPr lang="en-IN" dirty="0"/>
            </a:br>
            <a:r>
              <a:rPr lang="en-IN" b="1" dirty="0"/>
              <a:t>Operating System:</a:t>
            </a:r>
            <a:r>
              <a:rPr lang="en-IN" dirty="0"/>
              <a:t> Windows 10/11</a:t>
            </a:r>
            <a:br>
              <a:rPr lang="en-IN" dirty="0"/>
            </a:br>
            <a:r>
              <a:rPr lang="en-IN" b="1" dirty="0"/>
              <a:t>Data Visualization:</a:t>
            </a:r>
            <a:r>
              <a:rPr lang="en-IN" dirty="0"/>
              <a:t> Chart.js / Recharts</a:t>
            </a:r>
            <a:endParaRPr lang="en-US" dirty="0"/>
          </a:p>
        </p:txBody>
      </p:sp>
    </p:spTree>
    <p:extLst>
      <p:ext uri="{BB962C8B-B14F-4D97-AF65-F5344CB8AC3E}">
        <p14:creationId xmlns:p14="http://schemas.microsoft.com/office/powerpoint/2010/main" val="109896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title"/>
          </p:nvPr>
        </p:nvSpPr>
        <p:spPr>
          <a:xfrm>
            <a:off x="2400869" y="283266"/>
            <a:ext cx="6564573" cy="805366"/>
          </a:xfrm>
        </p:spPr>
        <p:txBody>
          <a:bodyPr anchor="ctr">
            <a:noAutofit/>
          </a:bodyPr>
          <a:lstStyle/>
          <a:p>
            <a:r>
              <a:rPr lang="en-US" sz="3600" b="1" dirty="0">
                <a:solidFill>
                  <a:srgbClr val="0070C0"/>
                </a:solidFill>
              </a:rPr>
              <a:t>CONCLUSION AND FUTURE SCOPE</a:t>
            </a:r>
            <a:endParaRPr lang="en-US" sz="4000" b="1" dirty="0">
              <a:solidFill>
                <a:srgbClr val="0070C0"/>
              </a:solidFill>
            </a:endParaRPr>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pPr>
                <a:spcAft>
                  <a:spcPts val="600"/>
                </a:spcAft>
              </a:pPr>
              <a:t>11</a:t>
            </a:fld>
            <a:endParaRPr lang="en-US" dirty="0"/>
          </a:p>
        </p:txBody>
      </p:sp>
      <p:sp>
        <p:nvSpPr>
          <p:cNvPr id="7" name="TextBox 6">
            <a:extLst>
              <a:ext uri="{FF2B5EF4-FFF2-40B4-BE49-F238E27FC236}">
                <a16:creationId xmlns:a16="http://schemas.microsoft.com/office/drawing/2014/main" id="{C9949CC0-173F-204E-5E80-2122EDFAB661}"/>
              </a:ext>
            </a:extLst>
          </p:cNvPr>
          <p:cNvSpPr txBox="1"/>
          <p:nvPr/>
        </p:nvSpPr>
        <p:spPr>
          <a:xfrm>
            <a:off x="1268362" y="1681316"/>
            <a:ext cx="9566786" cy="4524315"/>
          </a:xfrm>
          <a:prstGeom prst="rect">
            <a:avLst/>
          </a:prstGeom>
          <a:noFill/>
        </p:spPr>
        <p:txBody>
          <a:bodyPr wrap="square" rtlCol="0">
            <a:spAutoFit/>
          </a:bodyPr>
          <a:lstStyle/>
          <a:p>
            <a:r>
              <a:rPr lang="en-IN" sz="2400" dirty="0"/>
              <a:t>The Long Term Disease Treatment Monitoring and Care Coordination system provides a structured platform for managing the continuous treatment journey of patients with serious and long-term diseases. The system helps organize treatment plans, medical tests, appointments, symptoms, and follow-ups while maintaining a complete treatment history. It improves visibility of patient progress and supports better coordination between patients and healthcare providers.</a:t>
            </a:r>
          </a:p>
          <a:p>
            <a:r>
              <a:rPr lang="en-IN" sz="2400" b="1" dirty="0"/>
              <a:t>Future Scope:</a:t>
            </a:r>
          </a:p>
          <a:p>
            <a:pPr lvl="0"/>
            <a:r>
              <a:rPr lang="en-IN" sz="2400" dirty="0"/>
              <a:t>Add secure electronic health record integration.</a:t>
            </a:r>
          </a:p>
          <a:p>
            <a:pPr lvl="0"/>
            <a:r>
              <a:rPr lang="en-IN" sz="2400" dirty="0"/>
              <a:t>Support coordination across multiple hospitals. </a:t>
            </a:r>
          </a:p>
          <a:p>
            <a:pPr lvl="0"/>
            <a:r>
              <a:rPr lang="en-IN" sz="2400" dirty="0"/>
              <a:t>Add multilingual support for improved accessibility.</a:t>
            </a:r>
          </a:p>
          <a:p>
            <a:pPr lvl="0"/>
            <a:endParaRPr lang="en-IN" sz="2400" dirty="0"/>
          </a:p>
        </p:txBody>
      </p:sp>
    </p:spTree>
    <p:extLst>
      <p:ext uri="{BB962C8B-B14F-4D97-AF65-F5344CB8AC3E}">
        <p14:creationId xmlns:p14="http://schemas.microsoft.com/office/powerpoint/2010/main" val="1749009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8322</TotalTime>
  <Words>874</Words>
  <Application>Microsoft Office PowerPoint</Application>
  <PresentationFormat>Widescreen</PresentationFormat>
  <Paragraphs>108</Paragraphs>
  <Slides>12</Slides>
  <Notes>10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12</vt:i4>
      </vt:variant>
    </vt:vector>
  </HeadingPairs>
  <TitlesOfParts>
    <vt:vector size="17" baseType="lpstr">
      <vt:lpstr>Arial</vt:lpstr>
      <vt:lpstr>Calibri</vt:lpstr>
      <vt:lpstr>Calibri Light</vt:lpstr>
      <vt:lpstr>Office Theme</vt:lpstr>
      <vt:lpstr>Custom Design</vt:lpstr>
      <vt:lpstr>Long Term Disease Treatment Monitoring and Care Coordination</vt:lpstr>
      <vt:lpstr>GROUP NUMBER:19</vt:lpstr>
      <vt:lpstr>ABSTRACT</vt:lpstr>
      <vt:lpstr>INTRDOUCTION</vt:lpstr>
      <vt:lpstr>EXISTING SYSTEM</vt:lpstr>
      <vt:lpstr>PROBLEM</vt:lpstr>
      <vt:lpstr>SOLUTION(Contribution)</vt:lpstr>
      <vt:lpstr>Objectives </vt:lpstr>
      <vt:lpstr>Modules</vt:lpstr>
      <vt:lpstr>SOFTWARE REQUIREMENTS </vt:lpstr>
      <vt:lpstr>CONCLUSION AND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Siri Chandana Kolipaka</cp:lastModifiedBy>
  <cp:revision>96</cp:revision>
  <dcterms:created xsi:type="dcterms:W3CDTF">2022-05-20T10:20:31Z</dcterms:created>
  <dcterms:modified xsi:type="dcterms:W3CDTF">2026-08-29T08:40:49Z</dcterms:modified>
</cp:coreProperties>
</file>